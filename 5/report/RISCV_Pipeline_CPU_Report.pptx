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73" r:id="rId9"/>
    <p:sldId id="274" r:id="rId10"/>
    <p:sldId id="261" r:id="rId11"/>
    <p:sldId id="262" r:id="rId12"/>
    <p:sldId id="263" r:id="rId13"/>
    <p:sldId id="266" r:id="rId14"/>
    <p:sldId id="270" r:id="rId15"/>
    <p:sldId id="267" r:id="rId16"/>
    <p:sldId id="271" r:id="rId17"/>
    <p:sldId id="264" r:id="rId18"/>
    <p:sldId id="265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基于 RISC-V 的五级流水线 CPU 设计与实现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86200" y="4023360"/>
            <a:ext cx="1371600" cy="41148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3886200" y="40233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2026.10</a:t>
            </a:r>
            <a:endParaRPr 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38270" y="35210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zh-CN">
                <a:solidFill>
                  <a:schemeClr val="bg1"/>
                </a:solidFill>
              </a:rPr>
              <a:t>by </a:t>
            </a:r>
            <a:r>
              <a:rPr lang="zh-CN" altLang="zh-CN">
                <a:solidFill>
                  <a:schemeClr val="bg1"/>
                </a:solidFill>
              </a:rPr>
              <a:t>张天航</a:t>
            </a:r>
            <a:endParaRPr lang="zh-CN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指令集架构：RV32I 基础整数集（37 条）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188720"/>
          <a:ext cx="8229600" cy="3291841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1280160"/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类别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指令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数量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 型运算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 / sub / and / or / xor / sll / srl / sra / slt / sltu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 型运算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addi / andi / ori / xori / slli / srli / srai / slti / sltiu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lb / lh / lw / lbu / lhu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sb / sh / sw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Branch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beq / bne / blt / bge / bltu / bgeu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跳转 / U 型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jal / jalr / lui / auipc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六种指令格式全部覆盖：R / I / S / B / U / J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五级流水线微架构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463040" cy="914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4" name="Text 2"/>
          <p:cNvSpPr/>
          <p:nvPr/>
        </p:nvSpPr>
        <p:spPr>
          <a:xfrm>
            <a:off x="548640" y="205740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PC+4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29968" y="2148840"/>
            <a:ext cx="164592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Shape 5"/>
          <p:cNvSpPr/>
          <p:nvPr/>
        </p:nvSpPr>
        <p:spPr>
          <a:xfrm>
            <a:off x="2194560" y="1828800"/>
            <a:ext cx="1463040" cy="914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8" name="Text 6"/>
          <p:cNvSpPr/>
          <p:nvPr/>
        </p:nvSpPr>
        <p:spPr>
          <a:xfrm>
            <a:off x="2194560" y="205740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288036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译码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读寄存器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75888" y="2148840"/>
            <a:ext cx="164592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Shape 9"/>
          <p:cNvSpPr/>
          <p:nvPr/>
        </p:nvSpPr>
        <p:spPr>
          <a:xfrm>
            <a:off x="3840480" y="1828800"/>
            <a:ext cx="1463040" cy="914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10"/>
          <p:cNvSpPr/>
          <p:nvPr/>
        </p:nvSpPr>
        <p:spPr>
          <a:xfrm>
            <a:off x="3840480" y="205740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分支/跳转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21808" y="2148840"/>
            <a:ext cx="164592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5" name="Shape 13"/>
          <p:cNvSpPr/>
          <p:nvPr/>
        </p:nvSpPr>
        <p:spPr>
          <a:xfrm>
            <a:off x="5486400" y="1828800"/>
            <a:ext cx="1463040" cy="914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6" name="Text 14"/>
          <p:cNvSpPr/>
          <p:nvPr/>
        </p:nvSpPr>
        <p:spPr>
          <a:xfrm>
            <a:off x="5486400" y="205740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0" y="288036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字节使能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67728" y="2148840"/>
            <a:ext cx="164592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Shape 17"/>
          <p:cNvSpPr/>
          <p:nvPr/>
        </p:nvSpPr>
        <p:spPr>
          <a:xfrm>
            <a:off x="7132320" y="1828800"/>
            <a:ext cx="1463040" cy="914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0" name="Text 18"/>
          <p:cNvSpPr/>
          <p:nvPr/>
        </p:nvSpPr>
        <p:spPr>
          <a:xfrm>
            <a:off x="7132320" y="205740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WB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32320" y="288036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写回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结果选择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5A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流水线寄存器：F_D / D_E / E_M / M_W，含 stall/flush 控制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43585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数据通路核心模块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13435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2583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riscvpipe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298575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顶层模块：连接 controller 与 datapath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4715" y="1005840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33475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483995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组合译码：maindec + aludec，输出控制信号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07235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4990" y="1996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datapath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990" y="2445385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五级数据通路 + 冒险单元 Hazard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4715" y="2270125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1875" y="225933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regfile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78384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个通用寄存器，negedge 写避免同拍竞争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40075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990" y="3383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796665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add/sub/and/or/xor/slt/sltu/移位/直通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4715" y="3437890"/>
            <a:ext cx="393192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1875" y="3520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load_ext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1875" y="38862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WB 级字节/半字抽取（lb/lh/lbu/lhu）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6565" y="4229735"/>
            <a:ext cx="3932555" cy="70231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29735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Hazard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474845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前推 + load-use 停顿 + 分支冲刷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7435" y="33655"/>
            <a:ext cx="4144010" cy="5143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380" y="18796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数据通路</a:t>
            </a:r>
            <a:endParaRPr lang="en-US" altLang="en-US" sz="3600" b="1" dirty="0">
              <a:solidFill>
                <a:srgbClr val="1E3A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743585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状态</a:t>
            </a:r>
            <a:r>
              <a:rPr lang="zh-CN" alt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机</a:t>
            </a:r>
            <a:endParaRPr lang="zh-CN" altLang="en-US" sz="3600" b="1" dirty="0">
              <a:solidFill>
                <a:srgbClr val="1E3A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7395"/>
            <a:ext cx="9144000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冒险处理：前推 + 停顿 + 冲刷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457200" y="129844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MEM/WB 前推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 源操作数来自刚写回的寄存器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298448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A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 级源寄存器 == RdW 且 RegWriteW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457200" y="225856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EX/MEM 前推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3288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上一条 ALU 结果直接送给当前 EX 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58568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A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 级源寄存器 == RdM 且 RegWriteM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457200" y="321868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load-use 停顿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349300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lw/lb/lh 紧跟消费者时冻结 PC/IF_ID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218688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A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ResultSrcE[0] &amp; (Rs1D==RdE | Rs2D==RdE)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/>
        </p:nvSpPr>
        <p:spPr>
          <a:xfrm>
            <a:off x="457200" y="417880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Flush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1148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分支/跳转冲刷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445312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taken 分支或 jal/jalr 清空 ID/EX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4178808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A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FlushD=PCSrcE, FlushE=lwStall|PCSrcE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验证策略与高覆盖率 Testbench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188720"/>
          <a:ext cx="8229600" cy="3474723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验证方法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覆盖点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机器码脚本生成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用 Python 精确生成 RV32I 编码，避免手算 hex 出错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墓碑法（Tombstone）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taken 分支后跟两条写同一寄存器的 addi，冲刷失败即被抓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符号/零扩展对照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lb vs lbu、lh vs lhu 同地址读出结果相反，验证 load_ext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sb+sh 拼回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先写字节/半字，再用 lw 读回整字，验证字节使能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load-use 停顿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lw/lb 后紧跟消费者，检查 StallF/StallD 拉高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jal/jalr 往返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函数调用 + 返回，验证链接地址与 PC 目标选择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指令集扩展过程（4 个阶段）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640080" y="143560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基础 R/I 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add/sub/and/or/slt + addi/andi/ori/slti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 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1" name="Text 9"/>
          <p:cNvSpPr/>
          <p:nvPr/>
        </p:nvSpPr>
        <p:spPr>
          <a:xfrm>
            <a:off x="640080" y="244144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移位与比较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67004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xor/xori/sll/slli/srl/srli/sra/srai/sltu/sltiu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 条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7" name="Text 15"/>
          <p:cNvSpPr/>
          <p:nvPr/>
        </p:nvSpPr>
        <p:spPr>
          <a:xfrm>
            <a:off x="640080" y="344728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分支齐套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367588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bne/blt/bge/bltu/bgeu + lui/auipc/jalr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31 条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3" name="Text 21"/>
          <p:cNvSpPr/>
          <p:nvPr/>
        </p:nvSpPr>
        <p:spPr>
          <a:xfrm>
            <a:off x="640080" y="4453128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字节/半字访存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68172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lb/lh/lbu/lhu/sb/sh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43484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 条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207010" y="1270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仿真验证结果</a:t>
            </a:r>
            <a:endParaRPr 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941705"/>
            <a:ext cx="5918835" cy="3820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43955" y="941705"/>
            <a:ext cx="3048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1. 数据通路（运算类指令）</a:t>
            </a:r>
            <a:endParaRPr lang="zh-CN" altLang="en-US"/>
          </a:p>
          <a:p>
            <a:r>
              <a:rPr lang="en-US" altLang="zh-CN"/>
              <a:t>x2=0xFFFFFFFD（addi </a:t>
            </a:r>
            <a:r>
              <a:rPr lang="zh-CN" altLang="en-US"/>
              <a:t>负立即数符号扩展）；</a:t>
            </a:r>
            <a:r>
              <a:rPr lang="en-US" altLang="zh-CN"/>
              <a:t>x3=15、x4=20（add/</a:t>
            </a:r>
            <a:r>
              <a:rPr lang="zh-CN" altLang="en-US"/>
              <a:t>前推）；</a:t>
            </a:r>
            <a:r>
              <a:rPr lang="en-US" altLang="zh-CN"/>
              <a:t>x5=5（sub）；x6=4、x7=21（and/or）；x8=1（slt </a:t>
            </a:r>
            <a:r>
              <a:rPr lang="zh-CN" altLang="en-US"/>
              <a:t>有符号）；</a:t>
            </a:r>
            <a:r>
              <a:rPr lang="en-US" altLang="zh-CN"/>
              <a:t>x13=1（slti）；x10=4（andi）、x11=0x7F0（ori）。R </a:t>
            </a:r>
            <a:r>
              <a:rPr lang="zh-CN" altLang="en-US"/>
              <a:t>型/</a:t>
            </a:r>
            <a:r>
              <a:rPr lang="en-US" altLang="zh-CN"/>
              <a:t>I </a:t>
            </a:r>
            <a:r>
              <a:rPr lang="zh-CN" altLang="en-US"/>
              <a:t>型运算全部正确。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207010" y="1270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仿真验证结果</a:t>
            </a:r>
            <a:endParaRPr 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941705"/>
            <a:ext cx="5918835" cy="3820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43955" y="941705"/>
            <a:ext cx="2567305" cy="2475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2. 访存一致性 </a:t>
            </a:r>
            <a:endParaRPr lang="zh-CN" altLang="en-US"/>
          </a:p>
          <a:p>
            <a:r>
              <a:rPr lang="en-US" altLang="zh-CN"/>
              <a:t>dmem[0]=20、dmem[1]=21（</a:t>
            </a:r>
            <a:r>
              <a:rPr lang="zh-CN" altLang="en-US"/>
              <a:t>两条 </a:t>
            </a:r>
            <a:r>
              <a:rPr lang="en-US" altLang="zh-CN"/>
              <a:t>sw </a:t>
            </a:r>
            <a:r>
              <a:rPr lang="zh-CN" altLang="en-US"/>
              <a:t>正偏移）；</a:t>
            </a:r>
            <a:r>
              <a:rPr lang="en-US" altLang="zh-CN"/>
              <a:t>dmem[2]=10、dmem[3]=11（jal </a:t>
            </a:r>
            <a:r>
              <a:rPr lang="zh-CN" altLang="en-US"/>
              <a:t>返回后 </a:t>
            </a:r>
            <a:r>
              <a:rPr lang="en-US" altLang="zh-CN"/>
              <a:t>sw + load-use </a:t>
            </a:r>
            <a:r>
              <a:rPr lang="zh-CN" altLang="en-US"/>
              <a:t>加一）；</a:t>
            </a:r>
            <a:r>
              <a:rPr lang="en-US" altLang="zh-CN"/>
              <a:t>lw </a:t>
            </a:r>
            <a:r>
              <a:rPr lang="zh-CN" altLang="en-US"/>
              <a:t>读回值与写入一致。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207010" y="1270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仿真验证结果</a:t>
            </a:r>
            <a:endParaRPr 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941705"/>
            <a:ext cx="5918835" cy="3820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08370" y="354965"/>
            <a:ext cx="3048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冒险处理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前推链：</a:t>
            </a:r>
            <a:r>
              <a:rPr lang="en-US" altLang="zh-CN"/>
              <a:t>addi x3→add x4→sub x5 </a:t>
            </a:r>
            <a:r>
              <a:rPr lang="zh-CN" altLang="en-US"/>
              <a:t>连续相关，靠 </a:t>
            </a:r>
            <a:r>
              <a:rPr lang="en-US" altLang="zh-CN"/>
              <a:t>EX/MEM、MEM/WB </a:t>
            </a:r>
            <a:r>
              <a:rPr lang="zh-CN" altLang="en-US"/>
              <a:t>前推无停顿算出 15/20/5；</a:t>
            </a:r>
            <a:endParaRPr lang="zh-CN" altLang="en-US"/>
          </a:p>
          <a:p>
            <a:r>
              <a:rPr lang="en-US" altLang="zh-CN"/>
              <a:t>load-use（rs1）​：lw x14 → add x15,x14,x1 </a:t>
            </a:r>
            <a:r>
              <a:rPr lang="zh-CN" altLang="en-US"/>
              <a:t>紧邻，</a:t>
            </a:r>
            <a:r>
              <a:rPr lang="en-US" altLang="zh-CN"/>
              <a:t>StallF/StallD </a:t>
            </a:r>
            <a:r>
              <a:rPr lang="zh-CN" altLang="en-US"/>
              <a:t>拉高 1 拍，</a:t>
            </a:r>
            <a:r>
              <a:rPr lang="en-US" altLang="zh-CN"/>
              <a:t>x15=25 </a:t>
            </a:r>
            <a:r>
              <a:rPr lang="zh-CN" altLang="en-US"/>
              <a:t>正确；</a:t>
            </a:r>
            <a:endParaRPr lang="zh-CN" altLang="en-US"/>
          </a:p>
          <a:p>
            <a:r>
              <a:rPr lang="en-US" altLang="zh-CN"/>
              <a:t>load-use（rs2）​：lw x16 → sub x17,x2,x16，x17=0xFFFFFFE8 </a:t>
            </a:r>
            <a:r>
              <a:rPr lang="zh-CN" altLang="en-US"/>
              <a:t>正确；</a:t>
            </a:r>
            <a:endParaRPr lang="zh-CN" altLang="en-US"/>
          </a:p>
          <a:p>
            <a:r>
              <a:rPr lang="en-US" altLang="zh-CN"/>
              <a:t>lw </a:t>
            </a:r>
            <a:r>
              <a:rPr lang="zh-CN" altLang="en-US"/>
              <a:t>隔一条：</a:t>
            </a:r>
            <a:r>
              <a:rPr lang="en-US" altLang="zh-CN"/>
              <a:t>x20=x18+x19=97，</a:t>
            </a:r>
            <a:r>
              <a:rPr lang="zh-CN" altLang="en-US"/>
              <a:t>不停顿直接 </a:t>
            </a:r>
            <a:r>
              <a:rPr lang="en-US" altLang="zh-CN"/>
              <a:t>MEM/WB </a:t>
            </a:r>
            <a:r>
              <a:rPr lang="zh-CN" altLang="en-US"/>
              <a:t>前推。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207010" y="1270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仿真验证结果</a:t>
            </a:r>
            <a:endParaRPr 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941705"/>
            <a:ext cx="5918835" cy="3820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21730" y="912495"/>
            <a:ext cx="2698115" cy="2369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控制流与冲刷 </a:t>
            </a:r>
            <a:endParaRPr lang="zh-CN" altLang="en-US"/>
          </a:p>
          <a:p>
            <a:r>
              <a:rPr lang="en-US" altLang="zh-CN"/>
              <a:t>beq </a:t>
            </a:r>
            <a:r>
              <a:rPr lang="zh-CN" altLang="en-US"/>
              <a:t>不跳（</a:t>
            </a:r>
            <a:r>
              <a:rPr lang="en-US" altLang="zh-CN"/>
              <a:t>x21=111 </a:t>
            </a:r>
            <a:r>
              <a:rPr lang="zh-CN" altLang="en-US"/>
              <a:t>证明顺序执行）；</a:t>
            </a:r>
            <a:r>
              <a:rPr lang="en-US" altLang="zh-CN"/>
              <a:t>beq </a:t>
            </a:r>
            <a:r>
              <a:rPr lang="zh-CN" altLang="en-US"/>
              <a:t>跳转冲刷 2 条墓碑指令；</a:t>
            </a:r>
            <a:r>
              <a:rPr lang="en-US" altLang="zh-CN"/>
              <a:t>jal </a:t>
            </a:r>
            <a:r>
              <a:rPr lang="zh-CN" altLang="en-US"/>
              <a:t>链接+冲刷正确（</a:t>
            </a:r>
            <a:r>
              <a:rPr lang="en-US" altLang="zh-CN"/>
              <a:t>x21 </a:t>
            </a:r>
            <a:r>
              <a:rPr lang="zh-CN" altLang="en-US"/>
              <a:t>未被 222 覆盖）。</a:t>
            </a:r>
            <a:r>
              <a:rPr lang="en-US" altLang="zh-CN"/>
              <a:t>PC </a:t>
            </a:r>
            <a:r>
              <a:rPr lang="zh-CN" altLang="en-US"/>
              <a:t>全程按预期跳转，无跑飞。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仿真验证结果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463040"/>
            <a:ext cx="4572000" cy="12801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" name="Text 2"/>
          <p:cNvSpPr/>
          <p:nvPr/>
        </p:nvSpPr>
        <p:spPr>
          <a:xfrm>
            <a:off x="2286000" y="160020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ALL TESTS PASSED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1945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 项断言，覆盖 37 条 RV32I 指令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型 / I 型 ALU：加减、逻辑、比较、移位全部通过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访存：sw/lw、sb/sh/lb/lh/lbu/lhu 字节/半字对齐正确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分支：beq/bne/blt/bge/bltu/bgeu taken/not-taken + 冲刷验证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跳转：jal/jalr 链接地址、函数往返、jalr 目标来自 load 结果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最终 PC 稳定在 0x1D4 附近三点循环（死循环预期行为）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总结</a:t>
            </a:r>
            <a:endParaRPr lang="en-US" sz="38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40080" y="1755648"/>
            <a:ext cx="274320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097280" y="1645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已完成：五级流水线、RV32I 37 条指令、39 项断言 100% 通过</a:t>
            </a:r>
            <a:endParaRPr lang="en-US" sz="1800" dirty="0"/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640080" y="2578608"/>
            <a:ext cx="274320" cy="274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97280" y="24688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已完成：三级冒险处理（前推 / 停顿 / 冲刷），无气泡设计正确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谢谢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8,&quot;left&quot;:50.4,&quot;top&quot;:129.6,&quot;width&quot;:612}"/>
</p:tagLst>
</file>

<file path=ppt/tags/tag2.xml><?xml version="1.0" encoding="utf-8"?>
<p:tagLst xmlns:p="http://schemas.openxmlformats.org/presentationml/2006/main">
  <p:tag name="KSO_WM_DIAGRAM_VIRTUALLY_FRAME" val="{&quot;height&quot;:108,&quot;left&quot;:50.4,&quot;top&quot;:129.6,&quot;width&quot;:612}"/>
</p:tagLst>
</file>

<file path=ppt/tags/tag3.xml><?xml version="1.0" encoding="utf-8"?>
<p:tagLst xmlns:p="http://schemas.openxmlformats.org/presentationml/2006/main">
  <p:tag name="KSO_WM_DIAGRAM_VIRTUALLY_FRAME" val="{&quot;height&quot;:108,&quot;left&quot;:50.4,&quot;top&quot;:129.6,&quot;width&quot;:612}"/>
</p:tagLst>
</file>

<file path=ppt/tags/tag4.xml><?xml version="1.0" encoding="utf-8"?>
<p:tagLst xmlns:p="http://schemas.openxmlformats.org/presentationml/2006/main">
  <p:tag name="KSO_WM_DIAGRAM_VIRTUALLY_FRAME" val="{&quot;height&quot;:108,&quot;left&quot;:50.4,&quot;top&quot;:129.6,&quot;width&quot;:61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2378</Words>
  <Application>WPS 演示</Application>
  <PresentationFormat>On-screen Show (16:9)</PresentationFormat>
  <Paragraphs>257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Cambria</vt:lpstr>
      <vt:lpstr>Cambria</vt:lpstr>
      <vt:lpstr>Cambria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怀逸</cp:lastModifiedBy>
  <cp:revision>4</cp:revision>
  <dcterms:created xsi:type="dcterms:W3CDTF">2026-10-10T05:56:00Z</dcterms:created>
  <dcterms:modified xsi:type="dcterms:W3CDTF">2026-10-10T11:04:48Z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C38998E93F1C4355BFA130311648DC5E_12</vt:lpwstr>
  </property>
  <property fmtid="{D5CDD505-2E9C-101B-9397-08002B2CF9AE}" pid="3" name="KSOProductBuildVer">
    <vt:lpwstr>2052-12.1.0.28043</vt:lpwstr>
  </property>
</Properties>
</file>